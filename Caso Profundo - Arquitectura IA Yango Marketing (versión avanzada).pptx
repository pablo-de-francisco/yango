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Conversiones (miles): real vs. pronóstico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FF0000"/>
            </a:solidFill>
            <a:ln w="31750" cap="flat">
              <a:solidFill>
                <a:srgbClr val="FF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S-5</c:v>
                  </c:pt>
                  <c:pt idx="1">
                    <c:v>S-4</c:v>
                  </c:pt>
                  <c:pt idx="2">
                    <c:v>S-3</c:v>
                  </c:pt>
                  <c:pt idx="3">
                    <c:v>S-2</c:v>
                  </c:pt>
                  <c:pt idx="4">
                    <c:v>S-1</c:v>
                  </c:pt>
                  <c:pt idx="5">
                    <c:v>Hoy</c:v>
                  </c:pt>
                  <c:pt idx="6">
                    <c:v>S+1</c:v>
                  </c:pt>
                  <c:pt idx="7">
                    <c:v>S+2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48.1</c:v>
                </c:pt>
                <c:pt idx="1">
                  <c:v>50.2</c:v>
                </c:pt>
                <c:pt idx="2">
                  <c:v>49.4</c:v>
                </c:pt>
                <c:pt idx="3">
                  <c:v>52</c:v>
                </c:pt>
                <c:pt idx="4">
                  <c:v>54.5</c:v>
                </c:pt>
                <c:pt idx="5">
                  <c:v>58.3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Pronóstico IA</c:v>
                </c:pt>
              </c:strCache>
            </c:strRef>
          </c:tx>
          <c:spPr>
            <a:solidFill>
              <a:srgbClr val="9A9A9A"/>
            </a:solidFill>
            <a:ln w="31750" cap="flat">
              <a:solidFill>
                <a:srgbClr val="9A9A9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S-5</c:v>
                  </c:pt>
                  <c:pt idx="1">
                    <c:v>S-4</c:v>
                  </c:pt>
                  <c:pt idx="2">
                    <c:v>S-3</c:v>
                  </c:pt>
                  <c:pt idx="3">
                    <c:v>S-2</c:v>
                  </c:pt>
                  <c:pt idx="4">
                    <c:v>S-1</c:v>
                  </c:pt>
                  <c:pt idx="5">
                    <c:v>Hoy</c:v>
                  </c:pt>
                  <c:pt idx="6">
                    <c:v>S+1</c:v>
                  </c:pt>
                  <c:pt idx="7">
                    <c:v>S+2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5">
                  <c:v>58.3</c:v>
                </c:pt>
                <c:pt idx="6">
                  <c:v>60.1</c:v>
                </c:pt>
                <c:pt idx="7">
                  <c:v>61.6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40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NGO_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AppData\Local\Temp\claude\yango\build\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502920"/>
            <a:ext cx="2651760" cy="8778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NGO_ROJO"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AppData\Local\Temp\claude\yango\build\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502920"/>
            <a:ext cx="2651760" cy="8778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SOLUCIÓN: AI HUB DE MARKETING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05840" y="2011680"/>
            <a:ext cx="16276320" cy="12801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25880" y="20116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PROBLEMA (CASO 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20116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limitada para convertir la base digital en iniciativas de IA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baja atención directiva hacia la IA (AIA 2,69/5) y una gestión de datos débil (DMA 3,28/5).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566160"/>
            <a:ext cx="1627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RESPUESTA: UNA PLATAFORMA CON 4 MÓDULOS QUE ATACAN DIRECTAMENTE LAS BRECHAS DEL DIAGNÓSTICO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4251960"/>
            <a:ext cx="3794760" cy="49834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251960"/>
            <a:ext cx="3794760" cy="77724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COPILOTO ANALÍTICO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212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60807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que responde en lenguaje natural preguntas sobre campañas, canales y clientes, usando solo KPIs certificados.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79095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 LA BRECHA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datos (3,28) y Seizing (3,34)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4251960"/>
            <a:ext cx="3794760" cy="49834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4251960"/>
            <a:ext cx="3794760" cy="77724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BRIEFING EJECUTIVO IA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5212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60807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semanal automático para la dirección: anomalías, oportunidades y decisiones sugeridas.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79095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 LA BRECHA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directiva para IA (2,69) · Perspectiva (2,00)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26880" y="4251960"/>
            <a:ext cx="3794760" cy="49834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4251960"/>
            <a:ext cx="3794760" cy="77724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PREDICCIÓN Y PRESUPUESTO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5212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60807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que proyectan conversiones y recomiendan el mix de inversión por canal; Marketing aprueba.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79095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 LA BRECHA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Seizing: movilizar recursos para aprovechar oportunidades (3,34)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3487400" y="4251960"/>
            <a:ext cx="3794760" cy="49834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87400" y="4251960"/>
            <a:ext cx="3794760" cy="77724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487400" y="4251960"/>
            <a:ext cx="3794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DATOS GOBERNADOS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3761720" y="5212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13761720" y="60807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Lakehouse, capa semántica de KPIs y catálogo con un responsable por cada dominio de datos.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761720" y="79095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 LA BRECHA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datos (3,28) · Brecha entre roles (1,3 pts)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ASÍ SE VERÍA EL AI HUB MARKETING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572768"/>
            <a:ext cx="1627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analítico    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ejecutivo IA    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y presupuesto    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gobernados</a:t>
            </a:r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Mockup con datos ilustrativos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16276320" cy="7406640"/>
          </a:xfrm>
          <a:prstGeom prst="rect">
            <a:avLst/>
          </a:prstGeom>
          <a:solidFill>
            <a:srgbClr val="F6F6F6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16276320" cy="5486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YANGO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AI HUB MARKETING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75120" y="2121408"/>
            <a:ext cx="54864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21214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Pregúntale al copiloto sobre campañas, canales o clientes…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6245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de Marketing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21031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788920"/>
            <a:ext cx="1920240" cy="438912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27889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862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9834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KPIs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532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semanal · 14 al 20 de octubre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5360" y="276148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761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certificados · actualizado hace 2 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978640" y="2514600"/>
            <a:ext cx="457200" cy="4572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97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37560" y="3291840"/>
            <a:ext cx="209169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291840"/>
            <a:ext cx="18173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1200" dirty="0"/>
          </a:p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$412K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4% vs. semana anterior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12130" y="3291840"/>
            <a:ext cx="209169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95010" y="3291840"/>
            <a:ext cx="18173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Conversiones</a:t>
            </a:r>
            <a:endParaRPr lang="en-US" sz="1200" dirty="0"/>
          </a:p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58,3K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7% vs. semana anterior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86700" y="3291840"/>
            <a:ext cx="209169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69580" y="3291840"/>
            <a:ext cx="18173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1200" dirty="0"/>
          </a:p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3,1x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6% vs. semana anterior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161270" y="3291840"/>
            <a:ext cx="209169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44150" y="3291840"/>
            <a:ext cx="18173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</a:t>
            </a:r>
            <a:endParaRPr lang="en-US" sz="1200" dirty="0"/>
          </a:p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$7,10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3% vs. semana anterior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4709160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graphicFrame>
        <p:nvGraphicFramePr>
          <p:cNvPr id="32" name="Chart 0" descr=""/>
          <p:cNvGraphicFramePr/>
          <p:nvPr/>
        </p:nvGraphicFramePr>
        <p:xfrm>
          <a:off x="3429000" y="475488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9006840" y="4709160"/>
            <a:ext cx="32461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89720" y="4818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DEL BRIEFING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5257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5257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de Meta 18% bajo su promedio de 8 semanas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189720" y="59161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464040" y="5916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de entregas +12% el fin de semana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189720" y="657453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7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65745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de registros del CRM sin consentimiento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1978640" y="4480560"/>
            <a:ext cx="457200" cy="4572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97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3337560" y="7498080"/>
            <a:ext cx="8915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566160" y="7607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DE PRESUPUESTO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3566160" y="7955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$25K de Display a Búsqueda y Yango Ads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estimado: +1.900 conversiones (rango 1.400 a 2.300) · Confianza media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9509760" y="8138160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509760" y="8138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0835640" y="8138160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835640" y="8138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11978640" y="7269480"/>
            <a:ext cx="457200" cy="4572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1978640" y="7269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2481560" y="2743200"/>
            <a:ext cx="4572000" cy="649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271016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COPILOTO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6779240" y="2514600"/>
            <a:ext cx="457200" cy="4572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6779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3578840" y="3383280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371600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bajó el ROAS esta semana?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2710160" y="406908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6F6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2847320" y="406908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ROAS pasó de 3,3x a 3,1x. El 70% de la caída viene de Meta: el CPM de la campaña «Envíos gratis» subió 22%.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KPI certificado ROAS_semanal · Meta Ads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3578840" y="5806440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3716000" y="5806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 recomiendas hacer?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2710160" y="6492240"/>
            <a:ext cx="3246120" cy="1600200"/>
          </a:xfrm>
          <a:prstGeom prst="roundRect">
            <a:avLst>
              <a:gd name="adj" fmla="val 6857"/>
            </a:avLst>
          </a:prstGeom>
          <a:solidFill>
            <a:srgbClr val="F6F6F6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2847320" y="64922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Pausar 2 anuncios con CTR menor a 0,5% y probar la variante B. ¿Lo envío a aprobación?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aprobación humana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12710160" y="854964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2893040" y="8549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tu pregunta…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6431768" y="8595360"/>
            <a:ext cx="365760" cy="36576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6431768" y="8595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ARQUITECTURA FUNCIONAL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05840" y="2011680"/>
            <a:ext cx="11155680" cy="1600200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011680"/>
            <a:ext cx="2468880" cy="1600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FRONTEND /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APLICACIÓN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214884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 AI Hub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y chat del copiloto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17870" y="214884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09310" y="214884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ejecutivo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Correo, Slack o Teams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140" y="214884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9580" y="214884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de recomendaciones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o ajustar presupuesto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38410" y="214884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29850" y="214884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gobierno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calidad y uso de 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61188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09560" y="361188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698480" y="361188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" y="3886200"/>
            <a:ext cx="11155680" cy="1600200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3886200"/>
            <a:ext cx="2468880" cy="1600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88620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SERVICIOS /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ORQUESTACIÓN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0" y="402336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402336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+ SSO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y permisos por rol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17870" y="402336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09310" y="402336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Orquestador de agentes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 consultas y llama herramientas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78140" y="402336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9580" y="402336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Enmascara PII, filtra y registra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138410" y="402336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29850" y="402336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y pipelines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ETL/ELT y jobs del briefing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20640" y="548640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09560" y="548640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98480" y="548640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5840" y="5760720"/>
            <a:ext cx="11155680" cy="1600200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5760720"/>
            <a:ext cx="2468880" cy="1600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43000" y="57607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IA /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MODELOS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657600" y="589788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49040" y="589788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vía API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natural y resúmenes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17870" y="589788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09310" y="589788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+ RAG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KPIs y documentos internos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78140" y="589788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69580" y="589788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segmentación y anomalías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138410" y="589788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29850" y="589788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/ LLMOps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Registro, evaluación y drift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20640" y="736092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909560" y="736092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98480" y="7360920"/>
            <a:ext cx="914" cy="27432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05840" y="7635240"/>
            <a:ext cx="11155680" cy="1600200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" y="7635240"/>
            <a:ext cx="2468880" cy="1600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3000" y="7635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DATOS 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INFRAESTRUCTURA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 · IAM · cifrado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3657600" y="777240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749040" y="777240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 ads, CRM y eventos de app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817870" y="777240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09310" y="777240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bronce, plata y oro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978140" y="777240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069580" y="777240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semántica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única de KPIs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138410" y="7772400"/>
            <a:ext cx="202311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29850" y="7772400"/>
            <a:ext cx="184023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+ catálogo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linaje y dueños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2527280" y="2011680"/>
            <a:ext cx="4754880" cy="72237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527280" y="2011680"/>
            <a:ext cx="4754880" cy="73152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2527280" y="2011680"/>
            <a:ext cx="4754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DECISIONES TÉCNICAS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12801600" y="3017520"/>
            <a:ext cx="420624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por API, no propio.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costo y tiempo de puesta en marcha; contrato sin retención ni entrenamiento con datos de Yango.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semántica única.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consulta KPIs certificados, no tablas crudas: menos errores y una sola versión de la verdad.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por capas.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el dato crudo del dato confiable y deja trazabilidad completa.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en el circuito.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recomienda; Marketing aprueba presupuesto y audiencias.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y por APIs. </a:t>
            </a:r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por fases y modelo de IA intercambiable sin rehacer la solución.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DIAGRAMA DE CONTEXTO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INTERNOS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6245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FUENTE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0" y="4572000"/>
            <a:ext cx="4023360" cy="20116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45720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HUB</a:t>
            </a:r>
            <a:endParaRPr lang="en-US" sz="34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YANGO MARKETING</a:t>
            </a:r>
            <a:endParaRPr lang="en-US" sz="3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· Briefing · Predicción · Datos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148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DE MARKETING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briefing y KPIs; define prioridades y aprueba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2468880" cy="214884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4869180"/>
            <a:ext cx="3657600" cy="14630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8691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TÁCTICOS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CRM y contenidos: consultan al copiloto y reciben recomendaciones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flipV="1">
            <a:off x="4663440" y="5577840"/>
            <a:ext cx="2468880" cy="2286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" y="7589520"/>
            <a:ext cx="3657600" cy="14630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7589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DATOS / BI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Gobierna datos, KPIs y modelos; recibe alertas de calidad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4663440" y="6126480"/>
            <a:ext cx="2468880" cy="219456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624560" y="2148840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61720" y="2148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PUBLICITARIAS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Meta, TikTok, Yango Ads: inversión, clics, conversiones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flipV="1">
            <a:off x="11155680" y="2834640"/>
            <a:ext cx="2468880" cy="205740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13624560" y="3993185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61720" y="3993185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YANGO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y entregas: eventos y pedidos seudonimizados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V="1">
            <a:off x="11155680" y="4678985"/>
            <a:ext cx="2468880" cy="670255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13624560" y="5837530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61720" y="583753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CDP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Perfiles, segmentos y consentimientos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155680" y="5806440"/>
            <a:ext cx="2468880" cy="71689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13624560" y="7681874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761720" y="7681874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Y DOCUMENTOS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web, briefs, reportes y guías de marca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155680" y="6263640"/>
            <a:ext cx="2468880" cy="2104034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7132320" y="2148840"/>
            <a:ext cx="4023360" cy="11887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7269480" y="2148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LLM (EXTERNO)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prompts sin PII; devuelve texto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0" y="3337560"/>
            <a:ext cx="914" cy="123444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32320" y="7863840"/>
            <a:ext cx="4023360" cy="11887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7863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COLABORACIÓN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Correo, Slack o Teams: briefing y alertas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0" y="6583680"/>
            <a:ext cx="914" cy="128016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937760" y="9601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flujo de datos     - - - sistema externo a Yango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MAP: TIPOS Y FUENTES DE DATOS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0584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dominios internos y externos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9292" y="2423160"/>
            <a:ext cx="265176" cy="91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7190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8162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batch y streaming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2423160"/>
            <a:ext cx="265176" cy="91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crudo e inmutable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11412" y="2423160"/>
            <a:ext cx="265176" cy="91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0402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374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Limpio, validado y seudonimizado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777472" y="2423160"/>
            <a:ext cx="265176" cy="91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07008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17980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 + SEMÁNTICA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certificados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543532" y="2423160"/>
            <a:ext cx="265176" cy="91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836140" y="1920240"/>
            <a:ext cx="2446020" cy="10058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945868" y="1920240"/>
            <a:ext cx="2226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Copiloto, ML, briefing y BI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200400"/>
          <a:ext cx="16276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291840"/>
                <a:gridCol w="1645920"/>
                <a:gridCol w="292608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DATO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LA SOLUCIÓN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Campañas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Ads, Meta, TikTok, Yango 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Estructurado: inversión, impresiones, clics, conversiones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Diaria (API)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Copiloto, forecast, anomalías y briefing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Mkt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de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Yango de movilidad y entregas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Semiestructurado: eventos, sesiones y pedidos (JSON)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Horaria (streaming)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Atribución, segmentación y forecast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(seudonimizado)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/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/ CDP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Estructurado con PII: perfil, segmento, consentimiento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Diaria (batch)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Segmentación y audiencias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(PII)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analytics (GA4)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Semiestructurado: funnel y fuentes de tráfico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Diaria (API)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Copiloto y atribución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/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 y planillas financieras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Estructurado: presupuesto por canal y mes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Recomendación de mix de inversión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(confidencial)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Finanzas Mkt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Conocimiento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Briefs, reportes y guías de marca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estructurado: texto, PDF y presentaciones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demanda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del copiloto y briefing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(interno)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área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Benchmarks, tendencias y competencia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 / no estructurado: informes y noticias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del briefing ejecutivo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Generados por 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Prompts, respuestas, predicciones y feedback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Semiestructurado: logs y métricas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Evaluación, auditoría y mejora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Datos / 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548640"/>
            <a:ext cx="1335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RIESGOS DE DATOS Y GOBERNANZA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05840" y="192024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210312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CALIDAD DE DATOS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74320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con definiciones distintas por área (DMA 3,28) generan respuestas contradictorias.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semántica única, tests automáticos de calidad y un data owner por dominio.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53200" y="192024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27520" y="210312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PRIVACIDAD Y PII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27520" y="274320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clientes del CRM y las apps expuestos o usados sin consentimiento.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Seudonimización, minimización, control de consentimiento y ley local de datos.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100560" y="192024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74880" y="210312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ALUCINACIONES Y SESGOS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2374880" y="274320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LLM inventa cifras o los modelos sesgan audiencias y presupuesto.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solo desde KPIs certificados con fuente citada; evaluación continua y aprobación humana.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521208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539496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PROVEEDOR EXTERNO DE IA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603504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información confidencial y dependencia de un solo proveedor.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que enmascaran PII, contrato sin retención y diseño agnóstico al modelo.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53200" y="521208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7520" y="539496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ACCESOS Y SEGURIDAD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27520" y="603504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ven datos fuera de su rol, como presupuesto o PII.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control de acceso por rol, cifrado y logs de auditoría.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100560" y="5212080"/>
            <a:ext cx="5181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74880" y="5394960"/>
            <a:ext cx="463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PROPIEDAD Y ADOPCIÓN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2374880" y="603504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dueños ni patrocinio directivo la solución no se usa (AIA 2,69; roles 1,3 pts).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400" dirty="0"/>
          </a:p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datos e IA, matriz RACI y métricas de adopción.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8595360"/>
            <a:ext cx="1508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GOBIERNO: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datos e IA liderado por la dirección (eleva la atención directiva) · data owners por dominio · catálogo y linaje · política de uso de IA · revisión trimestral de riesgos.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367760" y="9601200"/>
            <a:ext cx="9144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la solución IA - Yango Marketing</dc:title>
  <dc:subject>PptxGenJS Presentation</dc:subject>
  <dc:creator>Pablo De Francisco, Samuel Sánchez, Sergio Arrigui</dc:creator>
  <cp:lastModifiedBy>Pablo De Francisco, Samuel Sánchez, Sergio Arrigui</cp:lastModifiedBy>
  <cp:revision>1</cp:revision>
  <dcterms:created xsi:type="dcterms:W3CDTF">2026-10-21T21:17:08Z</dcterms:created>
  <dcterms:modified xsi:type="dcterms:W3CDTF">2026-10-21T21:17:08Z</dcterms:modified>
</cp:coreProperties>
</file>